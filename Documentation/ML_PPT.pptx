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6" r:id="rId4"/>
    <p:sldId id="267" r:id="rId5"/>
    <p:sldId id="268" r:id="rId6"/>
    <p:sldId id="271" r:id="rId7"/>
    <p:sldId id="270" r:id="rId8"/>
    <p:sldId id="272" r:id="rId9"/>
    <p:sldId id="273" r:id="rId10"/>
    <p:sldId id="274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881A4-97E0-4626-BA30-074D23D3B5E2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CCE34-49A7-43AF-8BAD-FB84CE1E7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021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370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247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880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774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445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266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0" y="6410138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5374" y="63966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349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847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6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252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690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466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omputer science certificate&#10;&#10;AI-generated content may be incorrect.">
            <a:extLst>
              <a:ext uri="{FF2B5EF4-FFF2-40B4-BE49-F238E27FC236}">
                <a16:creationId xmlns:a16="http://schemas.microsoft.com/office/drawing/2014/main" id="{40420FD3-0A06-0436-D3A4-96837D4EB68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87"/>
          <a:stretch/>
        </p:blipFill>
        <p:spPr bwMode="auto">
          <a:xfrm>
            <a:off x="737937" y="0"/>
            <a:ext cx="10590433" cy="17165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F1ED9E-B03E-AADD-5318-2A3BC6BF9023}"/>
              </a:ext>
            </a:extLst>
          </p:cNvPr>
          <p:cNvSpPr txBox="1"/>
          <p:nvPr/>
        </p:nvSpPr>
        <p:spPr>
          <a:xfrm>
            <a:off x="1295396" y="2034143"/>
            <a:ext cx="960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baseline="30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</a:t>
            </a:r>
            <a:r>
              <a:rPr lang="en-US" sz="2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Semester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Machine Learning (CSE23602) 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Review </a:t>
            </a:r>
            <a:endParaRPr lang="en-IN" sz="20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268F318-F08B-1439-4C67-E73AB17F7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006501"/>
              </p:ext>
            </p:extLst>
          </p:nvPr>
        </p:nvGraphicFramePr>
        <p:xfrm>
          <a:off x="245265" y="3429000"/>
          <a:ext cx="11701463" cy="18188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6655">
                  <a:extLst>
                    <a:ext uri="{9D8B030D-6E8A-4147-A177-3AD203B41FA5}">
                      <a16:colId xmlns:a16="http://schemas.microsoft.com/office/drawing/2014/main" val="2777636275"/>
                    </a:ext>
                  </a:extLst>
                </a:gridCol>
                <a:gridCol w="2892592">
                  <a:extLst>
                    <a:ext uri="{9D8B030D-6E8A-4147-A177-3AD203B41FA5}">
                      <a16:colId xmlns:a16="http://schemas.microsoft.com/office/drawing/2014/main" val="930982237"/>
                    </a:ext>
                  </a:extLst>
                </a:gridCol>
                <a:gridCol w="2483893">
                  <a:extLst>
                    <a:ext uri="{9D8B030D-6E8A-4147-A177-3AD203B41FA5}">
                      <a16:colId xmlns:a16="http://schemas.microsoft.com/office/drawing/2014/main" val="167936775"/>
                    </a:ext>
                  </a:extLst>
                </a:gridCol>
                <a:gridCol w="4058323">
                  <a:extLst>
                    <a:ext uri="{9D8B030D-6E8A-4147-A177-3AD203B41FA5}">
                      <a16:colId xmlns:a16="http://schemas.microsoft.com/office/drawing/2014/main" val="504905048"/>
                    </a:ext>
                  </a:extLst>
                </a:gridCol>
              </a:tblGrid>
              <a:tr h="453878"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Project Title</a:t>
                      </a:r>
                      <a:endParaRPr lang="en-IN" sz="22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itchFamily="18" charset="0"/>
                        </a:rPr>
                        <a:t>Market Demand Prediction Using LR and SVM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941917"/>
                  </a:ext>
                </a:extLst>
              </a:tr>
              <a:tr h="453878">
                <a:tc rowSpan="2"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Student USN</a:t>
                      </a:r>
                      <a:endParaRPr lang="en-IN" sz="22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1GA23CS135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Student Name</a:t>
                      </a:r>
                      <a:endParaRPr lang="en-IN" sz="22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Ranna</a:t>
                      </a:r>
                      <a:endParaRPr lang="en-IN" sz="22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18601"/>
                  </a:ext>
                </a:extLst>
              </a:tr>
              <a:tr h="453878">
                <a:tc vMerge="1"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1GA23CS151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Shakthi Vel K</a:t>
                      </a:r>
                      <a:endParaRPr lang="en-IN" sz="22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726222"/>
                  </a:ext>
                </a:extLst>
              </a:tr>
              <a:tr h="453878">
                <a:tc>
                  <a:txBody>
                    <a:bodyPr/>
                    <a:lstStyle/>
                    <a:p>
                      <a:pPr algn="ctr"/>
                      <a:endParaRPr lang="en-IN" sz="22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1GA23CS191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Veeru Gowda G R</a:t>
                      </a:r>
                      <a:endParaRPr lang="en-IN" sz="22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89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2144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CSE23601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12894-0E7D-FCE9-A846-069E08CD7E41}"/>
              </a:ext>
            </a:extLst>
          </p:cNvPr>
          <p:cNvSpPr txBox="1"/>
          <p:nvPr/>
        </p:nvSpPr>
        <p:spPr>
          <a:xfrm>
            <a:off x="2798445" y="182880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pic>
        <p:nvPicPr>
          <p:cNvPr id="6" name="Picture 5" descr="Industries – Vidushi Infotech AI">
            <a:extLst>
              <a:ext uri="{FF2B5EF4-FFF2-40B4-BE49-F238E27FC236}">
                <a16:creationId xmlns:a16="http://schemas.microsoft.com/office/drawing/2014/main" id="{BA5BE447-C82E-BD0F-601E-467DAFB0A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562" y="1280769"/>
            <a:ext cx="5391986" cy="36827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ADDF81-3E40-D08D-3242-32E1F3A95262}"/>
              </a:ext>
            </a:extLst>
          </p:cNvPr>
          <p:cNvSpPr txBox="1"/>
          <p:nvPr/>
        </p:nvSpPr>
        <p:spPr>
          <a:xfrm>
            <a:off x="102452" y="904309"/>
            <a:ext cx="6121400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E-commerce and FMCG industries generate large volumes of sales and pricing data.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Inaccurate demand forecasting leads to: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Overstocking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Understocking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Financial loss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Poor inventory management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Traditional forecasting methods cannot effectively handle dynamic market trends and customer behavior.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Businesses require intelligent systems for accurate demand prediction and decision-making.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proposed system uses Machine Learning techniques to improve forecasting reliability and efficiency. 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626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BCBB9-1B91-093B-7A09-6126B9151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360396-6E28-F81C-2BFF-40E9A3E89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CSE23601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932D9E-99EF-E162-390C-3682BBB419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5CD7F-A95F-A5CF-29E3-6382D7C5A810}"/>
              </a:ext>
            </a:extLst>
          </p:cNvPr>
          <p:cNvSpPr txBox="1"/>
          <p:nvPr/>
        </p:nvSpPr>
        <p:spPr>
          <a:xfrm>
            <a:off x="2798445" y="182880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A0C9F7-24E8-03B1-CE8E-43570663045C}"/>
              </a:ext>
            </a:extLst>
          </p:cNvPr>
          <p:cNvSpPr txBox="1"/>
          <p:nvPr/>
        </p:nvSpPr>
        <p:spPr>
          <a:xfrm>
            <a:off x="197394" y="1330188"/>
            <a:ext cx="7315200" cy="4651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Rapid growth of e-commerce and FMCG industries increases the need for accurate demand forecasting.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Businesses require intelligent systems for inventory management and financial planning.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Traditional forecasting methods cannot effectively handle changing market trends.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proposed system uses Linear Regression and SVM for demand prediction.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Final predictions are generated by averaging both model outputs.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Data Analyst Presenting Online Shopping Trends and Performance Metrics">
            <a:extLst>
              <a:ext uri="{FF2B5EF4-FFF2-40B4-BE49-F238E27FC236}">
                <a16:creationId xmlns:a16="http://schemas.microsoft.com/office/drawing/2014/main" id="{CB8527BA-8878-17E8-2213-56CFCDA91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594" y="1378398"/>
            <a:ext cx="4561971" cy="374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155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FE236-5E17-FA0C-EAD6-DE44E01B0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AD5DC7-FA2A-7490-D737-014031659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CSE23601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B01611-5F54-7C66-2850-A4AF37814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E845BA-FB92-001F-71AF-01719FB5526B}"/>
              </a:ext>
            </a:extLst>
          </p:cNvPr>
          <p:cNvSpPr txBox="1"/>
          <p:nvPr/>
        </p:nvSpPr>
        <p:spPr>
          <a:xfrm>
            <a:off x="2798445" y="182880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Industry Need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092ED-8033-FB28-57FA-2C2D41BED4C2}"/>
              </a:ext>
            </a:extLst>
          </p:cNvPr>
          <p:cNvSpPr txBox="1"/>
          <p:nvPr/>
        </p:nvSpPr>
        <p:spPr>
          <a:xfrm>
            <a:off x="223520" y="1551640"/>
            <a:ext cx="6938386" cy="4651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Businesses require accurate demand forecasting for inventory and supply chain management.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Incorrect forecasting leads to overstocking and understocking.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E-commerce and FMCG industries generate large volumes of dynamic sales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Machine Learning helps improve forecasting accuracy and business decision-making.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Intelligent forecasting systems reduce manual effort and financial loss.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 descr="Predictive Inventory Analytics with AI abstract concept vector illustration.">
            <a:extLst>
              <a:ext uri="{FF2B5EF4-FFF2-40B4-BE49-F238E27FC236}">
                <a16:creationId xmlns:a16="http://schemas.microsoft.com/office/drawing/2014/main" id="{2B2517F2-6365-A9F9-4061-DE173AAF0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8455" y="1458801"/>
            <a:ext cx="5383545" cy="394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144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8D47-9909-CEBD-6ADB-3A1093DE7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6F7807-1FF5-6AE0-6D53-7B0761784A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CSE23601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E15D5A-F652-6CFB-63D8-4BC27B159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5F0EFD-6DC2-590D-6AF3-2FC59437C4AF}"/>
              </a:ext>
            </a:extLst>
          </p:cNvPr>
          <p:cNvSpPr txBox="1"/>
          <p:nvPr/>
        </p:nvSpPr>
        <p:spPr>
          <a:xfrm>
            <a:off x="2798445" y="182880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D67C94-356F-3DFD-38B1-25524376B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068" y="890766"/>
            <a:ext cx="9451682" cy="519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333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073BE-54CE-393F-BB02-201EDBF2F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F1D34E-B02B-260D-05CE-218AFE44C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CSE23601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48A360-EC76-D249-55CD-3769DD2A5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58CB37-1286-E4B5-1BEB-CB3BE92B787E}"/>
              </a:ext>
            </a:extLst>
          </p:cNvPr>
          <p:cNvSpPr txBox="1"/>
          <p:nvPr/>
        </p:nvSpPr>
        <p:spPr>
          <a:xfrm>
            <a:off x="2798445" y="182880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Model</a:t>
            </a:r>
            <a:r>
              <a:rPr lang="en-IN" sz="4000" b="1" dirty="0"/>
              <a:t> Training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D8449C-DF90-0130-ACA5-4A97A6007CA0}"/>
              </a:ext>
            </a:extLst>
          </p:cNvPr>
          <p:cNvSpPr txBox="1"/>
          <p:nvPr/>
        </p:nvSpPr>
        <p:spPr>
          <a:xfrm>
            <a:off x="197394" y="1169857"/>
            <a:ext cx="7315200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dataset was divided into training and testing datasets using an 80:20 ratio.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Linear Regression and Support Vector Machine (SVM) models were trained using the training dataset.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Linear Regression captured linear demand patterns.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SVM with the RBF kernel handled non-linear demand behavior.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Final predictions were generated by averaging the outputs of both models.</a:t>
            </a:r>
          </a:p>
        </p:txBody>
      </p:sp>
      <p:pic>
        <p:nvPicPr>
          <p:cNvPr id="6" name="Picture 5" descr="AI and Machine Learning Models for Business Process - Stock Illustration">
            <a:extLst>
              <a:ext uri="{FF2B5EF4-FFF2-40B4-BE49-F238E27FC236}">
                <a16:creationId xmlns:a16="http://schemas.microsoft.com/office/drawing/2014/main" id="{862BC1D6-A781-5C51-77DE-50E62487F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774" y="1291142"/>
            <a:ext cx="4008022" cy="400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09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1CC15-48FE-903F-54E5-AF5F2BBF2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D70DA0-5B95-F569-A0C2-7930F714CC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CSE23601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489F19-2D15-4B4E-26AB-29FCA78D9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8A498-C26F-8178-47AB-BDD526114F55}"/>
              </a:ext>
            </a:extLst>
          </p:cNvPr>
          <p:cNvSpPr txBox="1"/>
          <p:nvPr/>
        </p:nvSpPr>
        <p:spPr>
          <a:xfrm>
            <a:off x="2473324" y="297161"/>
            <a:ext cx="77069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Performance Evaluation Results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7F0399-C0F2-81C2-5EA0-77EB16E9B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202559"/>
              </p:ext>
            </p:extLst>
          </p:nvPr>
        </p:nvGraphicFramePr>
        <p:xfrm>
          <a:off x="706120" y="1247934"/>
          <a:ext cx="10515600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837671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8967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384722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Metrics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SVR (RBF Kernel)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8455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13.3367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13.3003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6823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283.8068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285.5472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070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16.8466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16.8981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2956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R²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0.3549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0.3510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8384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0.6206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0.6442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2551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0.6996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0.6273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1568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0.6776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0.6815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0812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0.6578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0.6356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37547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29F50D4-CAC3-6626-E497-BAD70AB62D1D}"/>
              </a:ext>
            </a:extLst>
          </p:cNvPr>
          <p:cNvSpPr txBox="1"/>
          <p:nvPr/>
        </p:nvSpPr>
        <p:spPr>
          <a:xfrm>
            <a:off x="584200" y="4729568"/>
            <a:ext cx="7919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Linear Regression achieved better Recall and R² Score.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SVR achieved better Accuracy and Precision. 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Final predictions were generated by averaging both model outputs.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676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61DE0-2B9A-EBB6-9E51-321C31A46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F97353-5166-5451-5B9D-D6EC3BFF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CSE23601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004AC8-5555-9D38-D2AA-55261F271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8E5E81-5C95-9738-BE61-10846B0220DF}"/>
              </a:ext>
            </a:extLst>
          </p:cNvPr>
          <p:cNvSpPr txBox="1"/>
          <p:nvPr/>
        </p:nvSpPr>
        <p:spPr>
          <a:xfrm>
            <a:off x="2798445" y="182880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246D2B-9C69-EC09-2740-EDC3E7ED094C}"/>
              </a:ext>
            </a:extLst>
          </p:cNvPr>
          <p:cNvSpPr txBox="1"/>
          <p:nvPr/>
        </p:nvSpPr>
        <p:spPr>
          <a:xfrm>
            <a:off x="177074" y="1182490"/>
            <a:ext cx="5786771" cy="4651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system generated demand predictions using Linear Regression and SVR models.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Linear Regression predicted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39.8 units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and SVR predicted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29.7 units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average prediction was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34.7 units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rounded to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35 units sold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Based on the threshold value, the product was classified as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High Demand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combined model improved forecasting reliability and inventory decision-making.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BAFDF6-EEB1-DDCC-4BDB-3A4B8D136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238" y="857250"/>
            <a:ext cx="3390242" cy="2224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059417-6DA4-0897-040E-BDCFBA365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762" y="3284668"/>
            <a:ext cx="4970147" cy="294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87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78C51-B91B-577F-7DED-38A1DD49D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1584106-2E50-CEAD-0CF7-A4A1BBCC4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CSE23601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1BBEBD-6904-D826-D89C-CA3110708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5E418-455A-FE0B-FB7A-34D19E295753}"/>
              </a:ext>
            </a:extLst>
          </p:cNvPr>
          <p:cNvSpPr txBox="1"/>
          <p:nvPr/>
        </p:nvSpPr>
        <p:spPr>
          <a:xfrm>
            <a:off x="2798445" y="182880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Business Impact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F652A-601F-6463-453E-D52704658731}"/>
              </a:ext>
            </a:extLst>
          </p:cNvPr>
          <p:cNvSpPr txBox="1"/>
          <p:nvPr/>
        </p:nvSpPr>
        <p:spPr>
          <a:xfrm>
            <a:off x="95794" y="2012311"/>
            <a:ext cx="6638698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Reduces overstocking and understocking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Improves inventory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Supports supply chain planning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Helps financial and business decision-making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Reduces manual effort in demand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Improves forecasting reliability using Machine Learning techniques</a:t>
            </a:r>
          </a:p>
        </p:txBody>
      </p:sp>
      <p:pic>
        <p:nvPicPr>
          <p:cNvPr id="7" name="Picture 6" descr="How ML Predictive Analytics Helps Retail Decode Behavior">
            <a:extLst>
              <a:ext uri="{FF2B5EF4-FFF2-40B4-BE49-F238E27FC236}">
                <a16:creationId xmlns:a16="http://schemas.microsoft.com/office/drawing/2014/main" id="{B33A9914-7F3C-9273-2DE7-F65050757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092" y="2141631"/>
            <a:ext cx="511492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34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9B7B2-600F-6414-FCF9-57D45BD21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FD4729-8A24-13D7-EAA3-A669FA09C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CSE23601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DF8B3E-8173-F77E-DEE9-07090055DB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B4CFE-5100-B7F7-0C95-D62DB533EF53}"/>
              </a:ext>
            </a:extLst>
          </p:cNvPr>
          <p:cNvSpPr txBox="1"/>
          <p:nvPr/>
        </p:nvSpPr>
        <p:spPr>
          <a:xfrm>
            <a:off x="2798445" y="182880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8F315-5AE0-3DAC-D40E-1D28959B9BE3}"/>
              </a:ext>
            </a:extLst>
          </p:cNvPr>
          <p:cNvSpPr txBox="1"/>
          <p:nvPr/>
        </p:nvSpPr>
        <p:spPr>
          <a:xfrm>
            <a:off x="197394" y="1169856"/>
            <a:ext cx="6741886" cy="4611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Successfully implemented a Machine Learning-based demand forecasting system.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Used Linear Regression and Support Vector Machine (SVM) algorithms for prediction.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Improved forecasting reliability by averaging both model outputs.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Achieved reliable performance using evaluation metrics such as Accuracy, Precision, Recall, MAE, RMSE, and R² Score.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system helps improve inventory management and business decision-making in e-commerce and FMCG industries.</a:t>
            </a:r>
          </a:p>
        </p:txBody>
      </p:sp>
      <p:pic>
        <p:nvPicPr>
          <p:cNvPr id="7" name="Picture 6" descr="A Comprehensive Guide To Machine Learning Forecasting">
            <a:extLst>
              <a:ext uri="{FF2B5EF4-FFF2-40B4-BE49-F238E27FC236}">
                <a16:creationId xmlns:a16="http://schemas.microsoft.com/office/drawing/2014/main" id="{89CA6126-65F1-BB4D-A4DD-908EC1452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940" y="1827946"/>
            <a:ext cx="5384060" cy="302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71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CSE23601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730389" y="2775955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Q &amp; A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023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CSE23601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580264" y="2735011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483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616</Words>
  <Application>Microsoft Office PowerPoint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Shakthivel K</cp:lastModifiedBy>
  <cp:revision>66</cp:revision>
  <dcterms:created xsi:type="dcterms:W3CDTF">2026-02-18T04:52:12Z</dcterms:created>
  <dcterms:modified xsi:type="dcterms:W3CDTF">2026-05-18T18:20:24Z</dcterms:modified>
</cp:coreProperties>
</file>